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0" d="100"/>
          <a:sy n="70" d="100"/>
        </p:scale>
        <p:origin x="-1080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A568D-064E-4CA3-969C-91A18CB91FD4}" type="datetimeFigureOut">
              <a:rPr lang="en-US" smtClean="0"/>
              <a:t>9/2/2020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D6011-F60C-4E0C-AC5E-BD054CF37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264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A568D-064E-4CA3-969C-91A18CB91FD4}" type="datetimeFigureOut">
              <a:rPr lang="en-US" smtClean="0"/>
              <a:t>9/2/2020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D6011-F60C-4E0C-AC5E-BD054CF37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21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A568D-064E-4CA3-969C-91A18CB91FD4}" type="datetimeFigureOut">
              <a:rPr lang="en-US" smtClean="0"/>
              <a:t>9/2/2020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D6011-F60C-4E0C-AC5E-BD054CF37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995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A568D-064E-4CA3-969C-91A18CB91FD4}" type="datetimeFigureOut">
              <a:rPr lang="en-US" smtClean="0"/>
              <a:t>9/2/2020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D6011-F60C-4E0C-AC5E-BD054CF37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4655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A568D-064E-4CA3-969C-91A18CB91FD4}" type="datetimeFigureOut">
              <a:rPr lang="en-US" smtClean="0"/>
              <a:t>9/2/2020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D6011-F60C-4E0C-AC5E-BD054CF37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723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A568D-064E-4CA3-969C-91A18CB91FD4}" type="datetimeFigureOut">
              <a:rPr lang="en-US" smtClean="0"/>
              <a:t>9/2/2020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D6011-F60C-4E0C-AC5E-BD054CF37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100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A568D-064E-4CA3-969C-91A18CB91FD4}" type="datetimeFigureOut">
              <a:rPr lang="en-US" smtClean="0"/>
              <a:t>9/2/2020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D6011-F60C-4E0C-AC5E-BD054CF37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068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A568D-064E-4CA3-969C-91A18CB91FD4}" type="datetimeFigureOut">
              <a:rPr lang="en-US" smtClean="0"/>
              <a:t>9/2/2020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D6011-F60C-4E0C-AC5E-BD054CF37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819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A568D-064E-4CA3-969C-91A18CB91FD4}" type="datetimeFigureOut">
              <a:rPr lang="en-US" smtClean="0"/>
              <a:t>9/2/2020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D6011-F60C-4E0C-AC5E-BD054CF37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834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A568D-064E-4CA3-969C-91A18CB91FD4}" type="datetimeFigureOut">
              <a:rPr lang="en-US" smtClean="0"/>
              <a:t>9/2/2020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D6011-F60C-4E0C-AC5E-BD054CF37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194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A568D-064E-4CA3-969C-91A18CB91FD4}" type="datetimeFigureOut">
              <a:rPr lang="en-US" smtClean="0"/>
              <a:t>9/2/2020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6D6011-F60C-4E0C-AC5E-BD054CF37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668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7A568D-064E-4CA3-969C-91A18CB91FD4}" type="datetimeFigureOut">
              <a:rPr lang="en-US" smtClean="0"/>
              <a:t>9/2/2020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6D6011-F60C-4E0C-AC5E-BD054CF370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902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28601"/>
            <a:ext cx="7772400" cy="609600"/>
          </a:xfrm>
        </p:spPr>
        <p:txBody>
          <a:bodyPr>
            <a:normAutofit fontScale="90000"/>
          </a:bodyPr>
          <a:lstStyle/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URL / Contact Info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1676400"/>
            <a:ext cx="7924800" cy="3657600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www.math-philosophy.xyz/4x4/4x4.html</a:t>
            </a:r>
            <a:r>
              <a:rPr lang="en-US" dirty="0">
                <a:solidFill>
                  <a:schemeClr val="tx1"/>
                </a:solidFill>
              </a:rPr>
              <a:t/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(Use this </a:t>
            </a:r>
            <a:r>
              <a:rPr lang="en-US" sz="2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run 4x4 Program</a:t>
            </a:r>
            <a:r>
              <a:rPr lang="en-US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sz="2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6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mail: </a:t>
            </a:r>
            <a:r>
              <a:rPr lang="en-US" sz="36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vfaraci@math-philosophy.xyz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4804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28601"/>
            <a:ext cx="7772400" cy="380999"/>
          </a:xfrm>
        </p:spPr>
        <p:txBody>
          <a:bodyPr>
            <a:normAutofit fontScale="90000"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About the 4x4 Magic Square Program</a:t>
            </a:r>
            <a:endParaRPr lang="en-US" sz="2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685800"/>
            <a:ext cx="8382000" cy="4495800"/>
          </a:xfrm>
        </p:spPr>
        <p:txBody>
          <a:bodyPr>
            <a:noAutofit/>
          </a:bodyPr>
          <a:lstStyle/>
          <a:p>
            <a:pPr algn="l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Written: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 Engine 1977, Web Version August </a:t>
            </a:r>
            <a:r>
              <a:rPr 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2020</a:t>
            </a:r>
          </a:p>
          <a:p>
            <a:pPr algn="l"/>
            <a:endParaRPr lang="en-US" sz="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 Paul </a:t>
            </a:r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Carus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(18 July 1852 – 11 Feb 1919) German-American author, editor, a student of comparative religion and philosopher:</a:t>
            </a:r>
            <a:b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"Although magic squares have no immediate practical use, they have </a:t>
            </a:r>
            <a:r>
              <a:rPr 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exercised 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great influence upon thinking people. There is no science that teaches the harmonies of nature more clearly than mathematics, and the magic squares are like a mirror that reflects the symmetry of the divine norm immanent in all things</a:t>
            </a:r>
            <a:r>
              <a:rPr 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endParaRPr lang="en-US" sz="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Background: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 in 1977, I was the first kid on the block with a computer. It was called "Tandy" and was sold by Radio Shack. It had 4 Kilobytes of memory. I do not think "Megabytes" was available in those days or even heard of. My "</a:t>
            </a:r>
            <a:r>
              <a:rPr 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 drive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was a Radio Shack tape recorder which was very troublesome. One of my very first computer programs I wrote back in 1977 was the math engine to this 4x4 </a:t>
            </a:r>
            <a:r>
              <a:rPr 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 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program. The engine was written in BASIC which was the only language available on that computer. It is interesting to note that in all my years I have found absolutely no practical use for these </a:t>
            </a:r>
            <a:r>
              <a:rPr 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 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programs, but they are very intriguing, and brain teasing. So in this year 2020 I decided to rewrite this program for the Web with pictures added. I am sure some people, but not all, will find this program intriguing as I did</a:t>
            </a:r>
            <a:r>
              <a:rPr 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endParaRPr lang="en-US" sz="4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Instructions</a:t>
            </a: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 Square Button - Increments one square at a time.</a:t>
            </a:r>
            <a:b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 Button - Holding the button down will keep incrementing squares until button is released.</a:t>
            </a:r>
            <a:b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 1-16 Button - Enters a number in the upper left corner cell</a:t>
            </a:r>
            <a:r>
              <a:rPr 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/>
            <a:r>
              <a:rPr 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reset the program, click “Enter 1-16” Button then click “Cancel”.</a:t>
            </a:r>
          </a:p>
          <a:p>
            <a:pPr algn="l"/>
            <a:endParaRPr lang="en-US" sz="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Notes: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definition of a Magic Square is an n by n matrix filled with numbers 1 to n^2 = n x n, with all rows, columns, and diagonals adding up to the same "Magic Number".</a:t>
            </a:r>
            <a:b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= number of rows = number of columns of the Magic Square</a:t>
            </a:r>
            <a:b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Magic Number = (n^3 + n)/2 so in this program n = 4 and therefore Magic Number = (4^3 + 4)/2 = 68/2 = 34</a:t>
            </a:r>
            <a:b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Considering only Magic Squares with 1 in the upper left corner cell, there are 400 unique arrangements out of a total of 1,307,674,368,000 possible arrangements of numbers 2 to 16 in the remaining 15 cells.</a:t>
            </a:r>
            <a:b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Considering only Magic Squares with 2 in the upper left corner cell, there are 396 unique </a:t>
            </a:r>
            <a:r>
              <a:rPr lang="en-US" sz="1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arrangements.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859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4187" y="304801"/>
            <a:ext cx="7772400" cy="5334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Magic Square Definition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461686"/>
              </p:ext>
            </p:extLst>
          </p:nvPr>
        </p:nvGraphicFramePr>
        <p:xfrm>
          <a:off x="3657600" y="3940490"/>
          <a:ext cx="2247900" cy="215051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{5940675A-B579-460E-94D1-54222C63F5DA}</a:tableStyleId>
              </a:tblPr>
              <a:tblGrid>
                <a:gridCol w="749300"/>
                <a:gridCol w="749300"/>
                <a:gridCol w="749300"/>
              </a:tblGrid>
              <a:tr h="718675">
                <a:tc>
                  <a:txBody>
                    <a:bodyPr/>
                    <a:lstStyle/>
                    <a:p>
                      <a:pPr algn="ctr"/>
                      <a:r>
                        <a:rPr lang="en-US" sz="4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sz="4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4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4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</a:tr>
              <a:tr h="730803">
                <a:tc>
                  <a:txBody>
                    <a:bodyPr/>
                    <a:lstStyle/>
                    <a:p>
                      <a:pPr algn="ctr"/>
                      <a:r>
                        <a:rPr lang="en-US" sz="4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4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4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sz="4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</a:tr>
              <a:tr h="679130">
                <a:tc>
                  <a:txBody>
                    <a:bodyPr/>
                    <a:lstStyle/>
                    <a:p>
                      <a:pPr algn="ctr"/>
                      <a:r>
                        <a:rPr lang="en-US" sz="4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4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sz="4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4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gradFill flip="none" rotWithShape="1"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2700000" scaled="1"/>
                      <a:tileRect/>
                    </a:gra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75170" y="914400"/>
            <a:ext cx="79592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n x n (n row by n column) matrix filled with numbers 1 to (n times n) where the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sum of all rows, columns, and diagonals add up to the same number which is called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 “Magic Number”.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5170" y="1923296"/>
            <a:ext cx="787587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x 3 matrix filled with numbers 1 to (3 x 3) = 9 = the number of cells in the matrix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ith “Magic Number” = 15. </a:t>
            </a:r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75170" y="3048000"/>
            <a:ext cx="79592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above definition, the 3x3 is the smallest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magic square known to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721814" y="4716018"/>
            <a:ext cx="804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rows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3124200" y="4196687"/>
            <a:ext cx="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3124200" y="5187287"/>
            <a:ext cx="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191000" y="6183868"/>
            <a:ext cx="1142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columns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3733800" y="6368534"/>
            <a:ext cx="3810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5410200" y="6368534"/>
            <a:ext cx="4572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173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130</Words>
  <Application>Microsoft Office PowerPoint</Application>
  <PresentationFormat>On-screen Show (4:3)</PresentationFormat>
  <Paragraphs>37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URL / Contact Info.</vt:lpstr>
      <vt:lpstr>About the 4x4 Magic Square Program</vt:lpstr>
      <vt:lpstr>Magic Square Definition</vt:lpstr>
    </vt:vector>
  </TitlesOfParts>
  <Company>BAE Systems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URL / Contact Info.</dc:title>
  <dc:creator>DDF</dc:creator>
  <cp:lastModifiedBy>DDF</cp:lastModifiedBy>
  <cp:revision>17</cp:revision>
  <dcterms:created xsi:type="dcterms:W3CDTF">2020-08-29T18:42:02Z</dcterms:created>
  <dcterms:modified xsi:type="dcterms:W3CDTF">2020-09-02T18:19:05Z</dcterms:modified>
</cp:coreProperties>
</file>